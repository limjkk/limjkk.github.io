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6" r:id="rId1"/>
  </p:sldMasterIdLst>
  <p:notesMasterIdLst>
    <p:notesMasterId r:id="rId3"/>
  </p:notesMasterIdLst>
  <p:sldIdLst>
    <p:sldId id="256" r:id="rId2"/>
  </p:sldIdLst>
  <p:sldSz cx="21599525" cy="32399288"/>
  <p:notesSz cx="6858000" cy="9144000"/>
  <p:defaultTextStyle>
    <a:lvl1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1pPr>
    <a:lvl2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2pPr>
    <a:lvl3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3pPr>
    <a:lvl4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4pPr>
    <a:lvl5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5pPr>
    <a:lvl6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6pPr>
    <a:lvl7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7pPr>
    <a:lvl8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8pPr>
    <a:lvl9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9pPr>
  </p:defaultTextStyle>
  <p:extLst>
    <p:ext uri="{EFAFB233-063F-42B5-8137-9DF3F51BA10A}">
      <p15:sldGuideLst xmlns:p15="http://schemas.microsoft.com/office/powerpoint/2012/main">
        <p15:guide id="1" orient="horz" pos="10199">
          <p15:clr>
            <a:srgbClr val="A4A3A4"/>
          </p15:clr>
        </p15:guide>
        <p15:guide id="2" pos="679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4C3C2611-4C71-4FC5-86AE-919BDF0F9419}" styleName="">
    <a:wholeTbl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0F0F0"/>
          </a:solidFill>
        </a:fill>
      </a:tcStyle>
    </a:wholeTbl>
    <a:band2H>
      <a:tcTxStyle/>
      <a:tcStyle>
        <a:tcBdr/>
        <a:fill>
          <a:solidFill>
            <a:srgbClr val="F8F8F8"/>
          </a:solidFill>
        </a:fill>
      </a:tcStyle>
    </a:band2H>
    <a:firstCol>
      <a:tcTxStyle b="on" i="on">
        <a:font>
          <a:latin typeface="Avenir Black"/>
          <a:ea typeface="Avenir Black"/>
          <a:cs typeface="Avenir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7D7D7"/>
          </a:solidFill>
        </a:fill>
      </a:tcStyle>
    </a:firstCol>
    <a:lastRow>
      <a:tcTxStyle b="on" i="on">
        <a:font>
          <a:latin typeface="Avenir Black"/>
          <a:ea typeface="Avenir Black"/>
          <a:cs typeface="Avenir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7D7D7"/>
          </a:solidFill>
        </a:fill>
      </a:tcStyle>
    </a:lastRow>
    <a:firstRow>
      <a:tcTxStyle b="on" i="on">
        <a:font>
          <a:latin typeface="Avenir Black"/>
          <a:ea typeface="Avenir Black"/>
          <a:cs typeface="Avenir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7D7D7"/>
          </a:solidFill>
        </a:fill>
      </a:tcStyle>
    </a:firstRow>
  </a:tblStyle>
  <a:tblStyle styleId="{EEE7283C-3CF3-47DC-8721-378D4A62B228}" styleName="">
    <a:wholeTbl>
      <a:tcTxStyle b="on" i="on">
        <a:font>
          <a:latin typeface="Avenir Black"/>
          <a:ea typeface="Avenir Black"/>
          <a:cs typeface="Avenir Black"/>
        </a:font>
        <a:srgbClr val="CEF0F8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DBDBDB"/>
          </a:solidFill>
        </a:fill>
      </a:tcStyle>
    </a:wholeTbl>
    <a:band2H>
      <a:tcTxStyle/>
      <a:tcStyle>
        <a:tcBdr/>
        <a:fill>
          <a:solidFill>
            <a:srgbClr val="EEEEEE"/>
          </a:solidFill>
        </a:fill>
      </a:tcStyle>
    </a:band2H>
    <a:firstCol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8F8F8F"/>
          </a:solidFill>
        </a:fill>
      </a:tcStyle>
    </a:firstCol>
    <a:la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381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8F8F8F"/>
          </a:solidFill>
        </a:fill>
      </a:tcStyle>
    </a:lastRow>
    <a:fir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381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8F8F8F"/>
          </a:solidFill>
        </a:fill>
      </a:tcStyle>
    </a:firstRow>
  </a:tblStyle>
  <a:tblStyle styleId="{2708684C-4D16-4618-839F-0558EEFCDFE6}" styleName="">
    <a:wholeTbl>
      <a:tcTxStyle b="on" i="on">
        <a:font>
          <a:latin typeface="Avenir Black"/>
          <a:ea typeface="Avenir Black"/>
          <a:cs typeface="Avenir Black"/>
        </a:font>
        <a:srgbClr val="CEF0F8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EDF9FC"/>
          </a:solidFill>
        </a:fill>
      </a:tcStyle>
    </a:wholeTbl>
    <a:band2H>
      <a:tcTxStyle/>
      <a:tcStyle>
        <a:tcBdr/>
        <a:fill>
          <a:solidFill>
            <a:srgbClr val="F6FCFE"/>
          </a:solidFill>
        </a:fill>
      </a:tcStyle>
    </a:band2H>
    <a:firstCol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CEF0F8"/>
          </a:solidFill>
        </a:fill>
      </a:tcStyle>
    </a:firstCol>
    <a:la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381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CEF0F8"/>
          </a:solidFill>
        </a:fill>
      </a:tcStyle>
    </a:lastRow>
    <a:fir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381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CEF0F8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3BA23B1-9221-436E-865A-0063620EA4FD}" styleName="">
    <a:wholeTbl>
      <a:tcTxStyle b="on" i="on">
        <a:font>
          <a:latin typeface="Avenir Black"/>
          <a:ea typeface="Avenir Black"/>
          <a:cs typeface="Avenir Black"/>
        </a:font>
        <a:srgbClr val="CEF0F8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F6FCFE"/>
          </a:solidFill>
        </a:fill>
      </a:tcStyle>
    </a:wholeTbl>
    <a:band2H>
      <a:tcTxStyle/>
      <a:tcStyle>
        <a:tcBdr/>
        <a:fill>
          <a:solidFill>
            <a:srgbClr val="1BADCF"/>
          </a:solidFill>
        </a:fill>
      </a:tcStyle>
    </a:band2H>
    <a:firstCol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D7D7D7"/>
          </a:solidFill>
        </a:fill>
      </a:tcStyle>
    </a:firstCol>
    <a:lastRow>
      <a:tcTxStyle b="on" i="on">
        <a:font>
          <a:latin typeface="Avenir Black"/>
          <a:ea typeface="Avenir Black"/>
          <a:cs typeface="Avenir Black"/>
        </a:font>
        <a:srgbClr val="CEF0F8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50800" cap="flat">
              <a:solidFill>
                <a:srgbClr val="CEF0F8"/>
              </a:solidFill>
              <a:prstDash val="solid"/>
              <a:bevel/>
            </a:ln>
          </a:top>
          <a:bottom>
            <a:ln w="25400" cap="flat">
              <a:solidFill>
                <a:srgbClr val="CEF0F8"/>
              </a:solidFill>
              <a:prstDash val="solid"/>
              <a:bevel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1BADCF"/>
          </a:solidFill>
        </a:fill>
      </a:tcStyle>
    </a:lastRow>
    <a:fir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CEF0F8"/>
              </a:solidFill>
              <a:prstDash val="solid"/>
              <a:bevel/>
            </a:ln>
          </a:top>
          <a:bottom>
            <a:ln w="25400" cap="flat">
              <a:solidFill>
                <a:srgbClr val="CEF0F8"/>
              </a:solidFill>
              <a:prstDash val="solid"/>
              <a:bevel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D7D7D7"/>
          </a:solidFill>
        </a:fill>
      </a:tcStyle>
    </a:firstRow>
  </a:tblStyle>
  <a:tblStyle styleId="{CF821DB8-F4EB-4A41-A1BA-3FCAFE7338EE}" styleName="">
    <a:wholeTbl>
      <a:tcTxStyle b="on" i="on">
        <a:font>
          <a:latin typeface="Avenir Black"/>
          <a:ea typeface="Avenir Black"/>
          <a:cs typeface="Avenir Black"/>
        </a:font>
        <a:srgbClr val="CEF0F8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CACFD1"/>
          </a:solidFill>
        </a:fill>
      </a:tcStyle>
    </a:wholeTbl>
    <a:band2H>
      <a:tcTxStyle/>
      <a:tcStyle>
        <a:tcBdr/>
        <a:fill>
          <a:solidFill>
            <a:srgbClr val="E6E8E9"/>
          </a:solidFill>
        </a:fill>
      </a:tcStyle>
    </a:band2H>
    <a:firstCol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0C4E5D"/>
          </a:solidFill>
        </a:fill>
      </a:tcStyle>
    </a:firstCol>
    <a:la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381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0C4E5D"/>
          </a:solidFill>
        </a:fill>
      </a:tcStyle>
    </a:lastRow>
    <a:fir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381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0C4E5D"/>
          </a:solidFill>
        </a:fill>
      </a:tcStyle>
    </a:firstRow>
  </a:tblStyle>
  <a:tblStyle styleId="{C7B018BB-80A7-4F77-B60F-C8B233D01FF8}" styleName="">
    <a:wholeTbl>
      <a:tcTxStyle b="on" i="on">
        <a:font>
          <a:latin typeface="Avenir Black"/>
          <a:ea typeface="Avenir Black"/>
          <a:cs typeface="Avenir Black"/>
        </a:font>
        <a:srgbClr val="CEF0F8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F0F0F0"/>
          </a:solidFill>
        </a:fill>
      </a:tcStyle>
    </a:wholeTbl>
    <a:band2H>
      <a:tcTxStyle/>
      <a:tcStyle>
        <a:tcBdr/>
        <a:fill>
          <a:solidFill>
            <a:srgbClr val="F8F8F8"/>
          </a:solidFill>
        </a:fill>
      </a:tcStyle>
    </a:band2H>
    <a:firstCol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D7D7D7"/>
          </a:solidFill>
        </a:fill>
      </a:tcStyle>
    </a:firstCol>
    <a:la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381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D7D7D7"/>
          </a:solidFill>
        </a:fill>
      </a:tcStyle>
    </a:lastRow>
    <a:fir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381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D7D7D7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17"/>
    <p:restoredTop sz="94660"/>
  </p:normalViewPr>
  <p:slideViewPr>
    <p:cSldViewPr snapToGrid="0">
      <p:cViewPr varScale="1">
        <p:scale>
          <a:sx n="24" d="100"/>
          <a:sy n="24" d="100"/>
        </p:scale>
        <p:origin x="3552" y="108"/>
      </p:cViewPr>
      <p:guideLst>
        <p:guide orient="horz" pos="10199"/>
        <p:guide pos="679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286000" y="685800"/>
            <a:ext cx="2286000" cy="3429000"/>
          </a:xfrm>
          <a:prstGeom prst="rect">
            <a:avLst/>
          </a:prstGeom>
        </p:spPr>
        <p:txBody>
          <a:bodyPr/>
          <a:lstStyle/>
          <a:p>
            <a:pPr lvl="0">
              <a:defRPr lang="ko-KR" altLang="en-US"/>
            </a:pPr>
            <a:endParaRPr lang="ko-KR"/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>
              <a:defRPr lang="ko-KR" altLang="en-US"/>
            </a:pPr>
            <a:endParaRPr 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1pPr>
    <a:lvl2pPr indent="168878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2pPr>
    <a:lvl3pPr indent="337754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3pPr>
    <a:lvl4pPr indent="506631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4pPr>
    <a:lvl5pPr indent="675509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5pPr>
    <a:lvl6pPr indent="844386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6pPr>
    <a:lvl7pPr indent="1013261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7pPr>
    <a:lvl8pPr indent="1182139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8pPr>
    <a:lvl9pPr indent="1351017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5302386"/>
            <a:ext cx="18359596" cy="11279752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014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100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8077332"/>
            <a:ext cx="18629590" cy="13477201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21682033"/>
            <a:ext cx="18629590" cy="7087342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/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455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577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724969"/>
            <a:ext cx="18629590" cy="626236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7942328"/>
            <a:ext cx="9137610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1834740"/>
            <a:ext cx="9137610" cy="174071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7942328"/>
            <a:ext cx="9182611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11834740"/>
            <a:ext cx="9182611" cy="174071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878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96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444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4664905"/>
            <a:ext cx="10934760" cy="23024494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4778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4664905"/>
            <a:ext cx="10934760" cy="23024494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012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814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1724962"/>
            <a:ext cx="4657398" cy="2745689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1724962"/>
            <a:ext cx="13702199" cy="274568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720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13915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0EF64-376B-4AE8-9729-79941913CF69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B7EC6-A2C4-4861-9A13-364CAA7663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349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</p:sldLayoutIdLst>
  <p:txStyles>
    <p:titleStyle>
      <a:lvl1pPr algn="l" defTabSz="2159996" rtl="0" eaLnBrk="1" latinLnBrk="1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1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그룹 82"/>
          <p:cNvGrpSpPr/>
          <p:nvPr/>
        </p:nvGrpSpPr>
        <p:grpSpPr>
          <a:xfrm>
            <a:off x="526715" y="6509507"/>
            <a:ext cx="10079214" cy="6916409"/>
            <a:chOff x="16468163" y="5804859"/>
            <a:chExt cx="15128344" cy="10133023"/>
          </a:xfrm>
        </p:grpSpPr>
        <p:grpSp>
          <p:nvGrpSpPr>
            <p:cNvPr id="84" name="그룹 83"/>
            <p:cNvGrpSpPr/>
            <p:nvPr/>
          </p:nvGrpSpPr>
          <p:grpSpPr>
            <a:xfrm>
              <a:off x="16468163" y="5804859"/>
              <a:ext cx="15128344" cy="1833244"/>
              <a:chOff x="327803" y="3308518"/>
              <a:chExt cx="9714153" cy="1491410"/>
            </a:xfrm>
          </p:grpSpPr>
          <p:sp>
            <p:nvSpPr>
              <p:cNvPr id="86" name="직사각형 85"/>
              <p:cNvSpPr/>
              <p:nvPr/>
            </p:nvSpPr>
            <p:spPr>
              <a:xfrm>
                <a:off x="333160" y="3308518"/>
                <a:ext cx="9708796" cy="1232290"/>
              </a:xfrm>
              <a:prstGeom prst="rect">
                <a:avLst/>
              </a:prstGeom>
              <a:solidFill>
                <a:srgbClr val="96D0A9"/>
              </a:solidFill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 lang="ko-KR" altLang="en-US"/>
                </a:pPr>
                <a:endParaRPr lang="ko-KR" altLang="en-US" sz="3200"/>
              </a:p>
            </p:txBody>
          </p:sp>
          <p:sp>
            <p:nvSpPr>
              <p:cNvPr id="88" name="Shape 40"/>
              <p:cNvSpPr/>
              <p:nvPr/>
            </p:nvSpPr>
            <p:spPr>
              <a:xfrm>
                <a:off x="327803" y="3312126"/>
                <a:ext cx="9708795" cy="1473151"/>
              </a:xfrm>
              <a:prstGeom prst="rect">
                <a:avLst/>
              </a:prstGeom>
              <a:ln w="12700">
                <a:miter/>
              </a:ln>
            </p:spPr>
            <p:txBody>
              <a:bodyPr wrap="square" lIns="252341" tIns="252341" rIns="252341" bIns="252341">
                <a:spAutoFit/>
              </a:bodyPr>
              <a:lstStyle/>
              <a:p>
                <a:pPr algn="ctr" defTabSz="2422862">
                  <a:defRPr lang="ko-KR" sz="1800">
                    <a:solidFill>
                      <a:srgbClr val="000000"/>
                    </a:solidFill>
                  </a:defRPr>
                </a:pPr>
                <a:r>
                  <a:rPr lang="ko-KR" altLang="en-US" sz="4800" b="1">
                    <a:solidFill>
                      <a:schemeClr val="bg1"/>
                    </a:solidFill>
                    <a:latin typeface="+mj-ea"/>
                    <a:ea typeface="+mj-ea"/>
                    <a:cs typeface="Arial"/>
                    <a:sym typeface="Arial"/>
                  </a:rPr>
                  <a:t>연구배경 및 목적</a:t>
                </a:r>
              </a:p>
            </p:txBody>
          </p:sp>
        </p:grpSp>
        <p:sp>
          <p:nvSpPr>
            <p:cNvPr id="85" name="Shape 57"/>
            <p:cNvSpPr/>
            <p:nvPr/>
          </p:nvSpPr>
          <p:spPr>
            <a:xfrm>
              <a:off x="16476504" y="7074811"/>
              <a:ext cx="15120003" cy="8863071"/>
            </a:xfrm>
            <a:prstGeom prst="rect">
              <a:avLst/>
            </a:prstGeom>
            <a:ln w="12700">
              <a:miter/>
            </a:ln>
          </p:spPr>
          <p:txBody>
            <a:bodyPr wrap="square" lIns="252341" tIns="252341" rIns="252341" bIns="252341">
              <a:spAutoFit/>
            </a:bodyPr>
            <a:lstStyle>
              <a:lvl1pPr defTabSz="3600450">
                <a:defRPr sz="2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571500" indent="-571500" algn="just" rtl="0">
                <a:buFont typeface="Wingdings"/>
                <a:buChar char="l"/>
                <a:defRPr lang="ko-KR" altLang="en-US"/>
              </a:pPr>
              <a:r>
                <a:rPr lang="ko-KR" altLang="en-US" sz="4000" dirty="0"/>
                <a:t>사시검사는 프리즘 교대 가림 검사와 가림 안 가림 검사 및 필요에 따라서는 </a:t>
              </a:r>
              <a:r>
                <a:rPr lang="en-US" altLang="ko-KR" sz="4000" dirty="0"/>
                <a:t>1</a:t>
              </a:r>
              <a:r>
                <a:rPr lang="ko-KR" altLang="en-US" sz="4000" dirty="0"/>
                <a:t>시간 안대 가림 후 </a:t>
              </a:r>
              <a:r>
                <a:rPr lang="ko-KR" altLang="en-US" sz="4000" dirty="0" err="1"/>
                <a:t>사시각</a:t>
              </a:r>
              <a:r>
                <a:rPr lang="ko-KR" altLang="en-US" sz="4000" dirty="0"/>
                <a:t> 검사 등을 진행하기 때문에</a:t>
              </a:r>
              <a:r>
                <a:rPr lang="en-US" altLang="ko-KR" sz="4000" dirty="0"/>
                <a:t> </a:t>
              </a:r>
              <a:r>
                <a:rPr lang="ko-KR" altLang="en-US" sz="4000" dirty="0"/>
                <a:t>비용과 시간적인 낭비가 크다</a:t>
              </a:r>
              <a:r>
                <a:rPr lang="en-US" altLang="ko-KR" sz="4000" dirty="0"/>
                <a:t>, </a:t>
              </a:r>
              <a:r>
                <a:rPr lang="ko-KR" altLang="en-US" sz="4000" dirty="0"/>
                <a:t>이러한 문제점을 해결하기 위해</a:t>
              </a:r>
              <a:r>
                <a:rPr lang="en-US" altLang="ko-KR" sz="4000" dirty="0"/>
                <a:t> </a:t>
              </a:r>
              <a:r>
                <a:rPr lang="ko-KR" altLang="en-US" sz="4000" dirty="0"/>
                <a:t>영상처리를 이용하여 짧은 시간내에 사시를 검출하는 디바이스를 제작한다</a:t>
              </a:r>
              <a:r>
                <a:rPr lang="en-US" altLang="ko-KR" sz="4000" dirty="0"/>
                <a:t>.</a:t>
              </a:r>
              <a:endParaRPr lang="ko-KR" altLang="en-US" sz="4000" dirty="0"/>
            </a:p>
            <a:p>
              <a:pPr marL="571500" indent="-571500" algn="just">
                <a:buFont typeface="Wingdings"/>
                <a:buChar char="l"/>
                <a:defRPr lang="ko-KR" altLang="en-US"/>
              </a:pPr>
              <a:endParaRPr lang="en-US" altLang="ko-KR" sz="4000" dirty="0"/>
            </a:p>
          </p:txBody>
        </p:sp>
      </p:grpSp>
      <p:sp>
        <p:nvSpPr>
          <p:cNvPr id="4" name="직사각형 3"/>
          <p:cNvSpPr/>
          <p:nvPr/>
        </p:nvSpPr>
        <p:spPr>
          <a:xfrm>
            <a:off x="526715" y="727948"/>
            <a:ext cx="20665400" cy="5044863"/>
          </a:xfrm>
          <a:prstGeom prst="rect">
            <a:avLst/>
          </a:prstGeom>
          <a:noFill/>
          <a:ln w="38100">
            <a:solidFill>
              <a:srgbClr val="96D0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en-US" altLang="ko-KR" sz="2800"/>
          </a:p>
          <a:p>
            <a:pPr algn="ctr">
              <a:defRPr lang="ko-KR" altLang="en-US"/>
            </a:pPr>
            <a:endParaRPr lang="en-US" altLang="ko-KR" sz="2800"/>
          </a:p>
          <a:p>
            <a:pPr algn="ctr">
              <a:defRPr lang="ko-KR" altLang="en-US"/>
            </a:pPr>
            <a:endParaRPr lang="en-US" altLang="ko-KR" sz="2800"/>
          </a:p>
          <a:p>
            <a:pPr algn="ctr">
              <a:defRPr lang="ko-KR" altLang="en-US"/>
            </a:pPr>
            <a:endParaRPr lang="en-US" altLang="ko-KR" sz="2800"/>
          </a:p>
          <a:p>
            <a:pPr algn="ctr">
              <a:defRPr lang="ko-KR" altLang="en-US"/>
            </a:pPr>
            <a:endParaRPr lang="en-US" altLang="ko-KR" sz="2800"/>
          </a:p>
        </p:txBody>
      </p:sp>
      <p:sp>
        <p:nvSpPr>
          <p:cNvPr id="27" name="Shape 27"/>
          <p:cNvSpPr/>
          <p:nvPr/>
        </p:nvSpPr>
        <p:spPr>
          <a:xfrm>
            <a:off x="4754248" y="1705609"/>
            <a:ext cx="13825526" cy="1035727"/>
          </a:xfrm>
          <a:prstGeom prst="rect">
            <a:avLst/>
          </a:prstGeom>
          <a:ln w="12700">
            <a:miter/>
          </a:ln>
        </p:spPr>
        <p:txBody>
          <a:bodyPr wrap="square" lIns="25175" tIns="25175" rIns="25175" bIns="25175">
            <a:spAutoFit/>
          </a:bodyPr>
          <a:lstStyle/>
          <a:p>
            <a:pPr algn="ctr" defTabSz="504229">
              <a:spcBef>
                <a:spcPct val="24000"/>
              </a:spcBef>
              <a:defRPr lang="ko-KR" sz="1800">
                <a:solidFill>
                  <a:srgbClr val="000000"/>
                </a:solidFill>
              </a:defRPr>
            </a:pPr>
            <a:r>
              <a:rPr lang="en-US" altLang="ko-KR" sz="6400" b="1" dirty="0" err="1">
                <a:solidFill>
                  <a:schemeClr val="tx1"/>
                </a:solidFill>
              </a:rPr>
              <a:t>Opencv</a:t>
            </a:r>
            <a:r>
              <a:rPr lang="ko-KR" altLang="en-US" sz="6400" b="1" dirty="0">
                <a:solidFill>
                  <a:schemeClr val="tx1"/>
                </a:solidFill>
              </a:rPr>
              <a:t>를 이용한 사시 진단 디바이스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21435" y="4485410"/>
            <a:ext cx="9807493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lang="ko-KR" altLang="en-US"/>
            </a:pPr>
            <a:r>
              <a:rPr lang="en-US" altLang="ko-KR" sz="4600" b="1" dirty="0">
                <a:solidFill>
                  <a:schemeClr val="tx1"/>
                </a:solidFill>
                <a:latin typeface="+mj-ea"/>
                <a:ea typeface="+mj-ea"/>
              </a:rPr>
              <a:t>20154102 </a:t>
            </a:r>
            <a:r>
              <a:rPr lang="ko-KR" altLang="en-US" sz="4600" b="1" dirty="0">
                <a:solidFill>
                  <a:schemeClr val="tx1"/>
                </a:solidFill>
                <a:latin typeface="+mj-ea"/>
                <a:ea typeface="+mj-ea"/>
              </a:rPr>
              <a:t>임진규 </a:t>
            </a:r>
            <a:r>
              <a:rPr lang="en-US" altLang="ko-KR" sz="4600" b="1" dirty="0">
                <a:solidFill>
                  <a:schemeClr val="tx1"/>
                </a:solidFill>
                <a:latin typeface="+mj-ea"/>
                <a:ea typeface="+mj-ea"/>
              </a:rPr>
              <a:t>20154091 </a:t>
            </a:r>
            <a:r>
              <a:rPr lang="ko-KR" altLang="en-US" sz="4600" b="1" dirty="0">
                <a:solidFill>
                  <a:schemeClr val="tx1"/>
                </a:solidFill>
                <a:latin typeface="+mj-ea"/>
                <a:ea typeface="+mj-ea"/>
              </a:rPr>
              <a:t>이창민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4662" y="3182487"/>
            <a:ext cx="1270986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ko-KR" altLang="en-US" sz="4600" b="1" dirty="0">
                <a:solidFill>
                  <a:schemeClr val="tx1"/>
                </a:solidFill>
                <a:latin typeface="+mj-ea"/>
                <a:ea typeface="+mj-ea"/>
              </a:rPr>
              <a:t>지도 교수 컴퓨터 공학과  남윤영  </a:t>
            </a:r>
          </a:p>
        </p:txBody>
      </p:sp>
      <p:grpSp>
        <p:nvGrpSpPr>
          <p:cNvPr id="76" name="그룹 75"/>
          <p:cNvGrpSpPr/>
          <p:nvPr/>
        </p:nvGrpSpPr>
        <p:grpSpPr>
          <a:xfrm>
            <a:off x="523935" y="13461597"/>
            <a:ext cx="10079214" cy="1251302"/>
            <a:chOff x="327803" y="3308518"/>
            <a:chExt cx="9714153" cy="1491410"/>
          </a:xfrm>
          <a:solidFill>
            <a:schemeClr val="accent3">
              <a:lumMod val="75000"/>
            </a:schemeClr>
          </a:solidFill>
        </p:grpSpPr>
        <p:sp>
          <p:nvSpPr>
            <p:cNvPr id="79" name="직사각형 78"/>
            <p:cNvSpPr/>
            <p:nvPr/>
          </p:nvSpPr>
          <p:spPr>
            <a:xfrm>
              <a:off x="333160" y="3308518"/>
              <a:ext cx="9708796" cy="1232290"/>
            </a:xfrm>
            <a:prstGeom prst="rect">
              <a:avLst/>
            </a:prstGeom>
            <a:grp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endParaRPr lang="ko-KR" altLang="en-US" sz="3200"/>
            </a:p>
          </p:txBody>
        </p:sp>
        <p:sp>
          <p:nvSpPr>
            <p:cNvPr id="80" name="Shape 40"/>
            <p:cNvSpPr/>
            <p:nvPr/>
          </p:nvSpPr>
          <p:spPr>
            <a:xfrm>
              <a:off x="327803" y="3312129"/>
              <a:ext cx="9708795" cy="1474531"/>
            </a:xfrm>
            <a:prstGeom prst="rect">
              <a:avLst/>
            </a:prstGeom>
            <a:solidFill>
              <a:srgbClr val="96D0A9"/>
            </a:solidFill>
            <a:ln w="12700">
              <a:miter/>
            </a:ln>
          </p:spPr>
          <p:txBody>
            <a:bodyPr wrap="square" lIns="252341" tIns="252341" rIns="252341" bIns="252341">
              <a:spAutoFit/>
            </a:bodyPr>
            <a:lstStyle/>
            <a:p>
              <a:pPr algn="ctr" defTabSz="2422862">
                <a:defRPr lang="ko-KR" sz="1800">
                  <a:solidFill>
                    <a:srgbClr val="000000"/>
                  </a:solidFill>
                </a:defRPr>
              </a:pPr>
              <a:r>
                <a:rPr lang="ko-KR" altLang="en-US" sz="4800" b="1">
                  <a:solidFill>
                    <a:schemeClr val="bg1"/>
                  </a:solidFill>
                  <a:latin typeface="+mj-ea"/>
                  <a:ea typeface="+mj-ea"/>
                  <a:cs typeface="Arial"/>
                  <a:sym typeface="Arial"/>
                </a:rPr>
                <a:t>작품 개요</a:t>
              </a:r>
              <a:endParaRPr lang="en-US" altLang="ko-KR" sz="4800" b="1">
                <a:solidFill>
                  <a:schemeClr val="bg1"/>
                </a:solidFill>
                <a:latin typeface="+mj-ea"/>
                <a:ea typeface="+mj-ea"/>
                <a:cs typeface="Arial"/>
                <a:sym typeface="Arial"/>
              </a:endParaRPr>
            </a:p>
          </p:txBody>
        </p:sp>
      </p:grpSp>
      <p:grpSp>
        <p:nvGrpSpPr>
          <p:cNvPr id="89" name="그룹 88"/>
          <p:cNvGrpSpPr/>
          <p:nvPr/>
        </p:nvGrpSpPr>
        <p:grpSpPr>
          <a:xfrm>
            <a:off x="11107340" y="15961628"/>
            <a:ext cx="10073656" cy="1232344"/>
            <a:chOff x="333160" y="776481"/>
            <a:chExt cx="9708796" cy="1468814"/>
          </a:xfrm>
          <a:solidFill>
            <a:schemeClr val="accent3">
              <a:lumMod val="75000"/>
            </a:schemeClr>
          </a:solidFill>
        </p:grpSpPr>
        <p:sp>
          <p:nvSpPr>
            <p:cNvPr id="93" name="직사각형 92"/>
            <p:cNvSpPr/>
            <p:nvPr/>
          </p:nvSpPr>
          <p:spPr>
            <a:xfrm>
              <a:off x="333160" y="978317"/>
              <a:ext cx="9708796" cy="1232290"/>
            </a:xfrm>
            <a:prstGeom prst="rect">
              <a:avLst/>
            </a:prstGeom>
            <a:grp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endParaRPr lang="ko-KR" altLang="en-US" sz="3200"/>
            </a:p>
          </p:txBody>
        </p:sp>
        <p:sp>
          <p:nvSpPr>
            <p:cNvPr id="94" name="Shape 40"/>
            <p:cNvSpPr/>
            <p:nvPr/>
          </p:nvSpPr>
          <p:spPr>
            <a:xfrm>
              <a:off x="333160" y="776481"/>
              <a:ext cx="9708795" cy="1468814"/>
            </a:xfrm>
            <a:prstGeom prst="rect">
              <a:avLst/>
            </a:prstGeom>
            <a:solidFill>
              <a:srgbClr val="96D0A9"/>
            </a:solidFill>
            <a:ln w="12700">
              <a:miter/>
            </a:ln>
          </p:spPr>
          <p:txBody>
            <a:bodyPr wrap="square" lIns="252341" tIns="252341" rIns="252341" bIns="252341">
              <a:spAutoFit/>
            </a:bodyPr>
            <a:lstStyle/>
            <a:p>
              <a:pPr algn="ctr" defTabSz="2422862">
                <a:defRPr lang="ko-KR" sz="1800">
                  <a:solidFill>
                    <a:srgbClr val="000000"/>
                  </a:solidFill>
                </a:defRPr>
              </a:pPr>
              <a:r>
                <a:rPr lang="ko-KR" altLang="en-US" sz="4800" b="1" dirty="0">
                  <a:solidFill>
                    <a:schemeClr val="bg1"/>
                  </a:solidFill>
                  <a:latin typeface="+mj-ea"/>
                  <a:ea typeface="+mj-ea"/>
                  <a:cs typeface="Arial"/>
                  <a:sym typeface="Arial"/>
                </a:rPr>
                <a:t>개발 결과</a:t>
              </a:r>
              <a:endParaRPr lang="en-US" altLang="ko-KR" sz="4800" b="1" dirty="0">
                <a:solidFill>
                  <a:schemeClr val="bg1"/>
                </a:solidFill>
                <a:latin typeface="+mj-ea"/>
                <a:ea typeface="+mj-ea"/>
                <a:cs typeface="Arial"/>
                <a:sym typeface="Arial"/>
              </a:endParaRPr>
            </a:p>
          </p:txBody>
        </p:sp>
      </p:grpSp>
      <p:grpSp>
        <p:nvGrpSpPr>
          <p:cNvPr id="96" name="그룹 95"/>
          <p:cNvGrpSpPr/>
          <p:nvPr/>
        </p:nvGrpSpPr>
        <p:grpSpPr>
          <a:xfrm>
            <a:off x="11107340" y="24574077"/>
            <a:ext cx="10079214" cy="1251302"/>
            <a:chOff x="327803" y="3308518"/>
            <a:chExt cx="9714153" cy="1491410"/>
          </a:xfrm>
          <a:solidFill>
            <a:schemeClr val="accent3">
              <a:lumMod val="75000"/>
            </a:schemeClr>
          </a:solidFill>
        </p:grpSpPr>
        <p:sp>
          <p:nvSpPr>
            <p:cNvPr id="98" name="직사각형 97"/>
            <p:cNvSpPr/>
            <p:nvPr/>
          </p:nvSpPr>
          <p:spPr>
            <a:xfrm>
              <a:off x="333160" y="3308518"/>
              <a:ext cx="9708796" cy="1232290"/>
            </a:xfrm>
            <a:prstGeom prst="rect">
              <a:avLst/>
            </a:prstGeom>
            <a:grp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endParaRPr lang="ko-KR" altLang="en-US" sz="3200"/>
            </a:p>
          </p:txBody>
        </p:sp>
        <p:sp>
          <p:nvSpPr>
            <p:cNvPr id="99" name="Shape 40"/>
            <p:cNvSpPr/>
            <p:nvPr/>
          </p:nvSpPr>
          <p:spPr>
            <a:xfrm>
              <a:off x="327802" y="3312129"/>
              <a:ext cx="9708797" cy="1469269"/>
            </a:xfrm>
            <a:prstGeom prst="rect">
              <a:avLst/>
            </a:prstGeom>
            <a:solidFill>
              <a:srgbClr val="96D0A9"/>
            </a:solidFill>
            <a:ln w="12700">
              <a:miter/>
            </a:ln>
          </p:spPr>
          <p:txBody>
            <a:bodyPr wrap="square" lIns="252341" tIns="252341" rIns="252341" bIns="252341">
              <a:spAutoFit/>
            </a:bodyPr>
            <a:lstStyle/>
            <a:p>
              <a:pPr algn="ctr" defTabSz="2422862">
                <a:defRPr lang="ko-KR" sz="1800">
                  <a:solidFill>
                    <a:srgbClr val="000000"/>
                  </a:solidFill>
                </a:defRPr>
              </a:pPr>
              <a:r>
                <a:rPr lang="ko-KR" altLang="en-US" sz="4800" b="1">
                  <a:solidFill>
                    <a:schemeClr val="bg1"/>
                  </a:solidFill>
                  <a:latin typeface="+mj-ea"/>
                  <a:ea typeface="+mj-ea"/>
                  <a:cs typeface="Arial"/>
                  <a:sym typeface="Arial"/>
                </a:rPr>
                <a:t>결론</a:t>
              </a:r>
              <a:endParaRPr lang="en-US" altLang="ko-KR" sz="4800" b="1">
                <a:solidFill>
                  <a:schemeClr val="bg1"/>
                </a:solidFill>
                <a:latin typeface="+mj-ea"/>
                <a:ea typeface="+mj-ea"/>
                <a:cs typeface="Arial"/>
                <a:sym typeface="Arial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10982218" y="6469323"/>
            <a:ext cx="10207116" cy="7744752"/>
            <a:chOff x="10982218" y="6469323"/>
            <a:chExt cx="10207116" cy="7744752"/>
          </a:xfrm>
          <a:solidFill>
            <a:schemeClr val="accent3">
              <a:lumMod val="75000"/>
            </a:schemeClr>
          </a:solidFill>
        </p:grpSpPr>
        <p:sp>
          <p:nvSpPr>
            <p:cNvPr id="100" name="Shape 57"/>
            <p:cNvSpPr/>
            <p:nvPr/>
          </p:nvSpPr>
          <p:spPr>
            <a:xfrm>
              <a:off x="10982218" y="7548933"/>
              <a:ext cx="10073655" cy="6665142"/>
            </a:xfrm>
            <a:prstGeom prst="rect">
              <a:avLst/>
            </a:prstGeom>
            <a:noFill/>
            <a:ln w="12700">
              <a:miter/>
            </a:ln>
          </p:spPr>
          <p:txBody>
            <a:bodyPr wrap="square" lIns="252341" tIns="252341" rIns="252341" bIns="252341">
              <a:spAutoFit/>
            </a:bodyPr>
            <a:lstStyle>
              <a:lvl1pPr defTabSz="3600450">
                <a:defRPr sz="2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571500" indent="-571500" algn="just">
                <a:buFont typeface="Wingdings"/>
                <a:buChar char="l"/>
                <a:defRPr lang="ko-KR" altLang="en-US"/>
              </a:pPr>
              <a:r>
                <a:rPr lang="ko-KR" altLang="en-US" sz="4000" dirty="0">
                  <a:solidFill>
                    <a:schemeClr val="tx1"/>
                  </a:solidFill>
                </a:rPr>
                <a:t>사시는 두 눈이 같은 방향으로 정렬 되지 않고</a:t>
              </a:r>
              <a:r>
                <a:rPr lang="en-US" altLang="ko-KR" sz="4000" dirty="0">
                  <a:solidFill>
                    <a:schemeClr val="tx1"/>
                  </a:solidFill>
                </a:rPr>
                <a:t>, </a:t>
              </a:r>
              <a:r>
                <a:rPr lang="ko-KR" altLang="en-US" sz="4000" dirty="0">
                  <a:solidFill>
                    <a:schemeClr val="tx1"/>
                  </a:solidFill>
                </a:rPr>
                <a:t>한쪽 눈은 정면을</a:t>
              </a:r>
              <a:r>
                <a:rPr lang="en-US" altLang="ko-KR" sz="4000" dirty="0">
                  <a:solidFill>
                    <a:schemeClr val="tx1"/>
                  </a:solidFill>
                </a:rPr>
                <a:t>, </a:t>
              </a:r>
              <a:r>
                <a:rPr lang="ko-KR" altLang="en-US" sz="4000" dirty="0">
                  <a:solidFill>
                    <a:schemeClr val="tx1"/>
                  </a:solidFill>
                </a:rPr>
                <a:t>다른 한쪽 눈은 </a:t>
              </a:r>
              <a:r>
                <a:rPr lang="ko-KR" altLang="en-US" sz="4000" dirty="0" err="1">
                  <a:solidFill>
                    <a:schemeClr val="tx1"/>
                  </a:solidFill>
                </a:rPr>
                <a:t>다른방향으로</a:t>
              </a:r>
              <a:r>
                <a:rPr lang="ko-KR" altLang="en-US" sz="4000" dirty="0">
                  <a:solidFill>
                    <a:schemeClr val="tx1"/>
                  </a:solidFill>
                </a:rPr>
                <a:t> 향한 상태이다</a:t>
              </a:r>
              <a:r>
                <a:rPr lang="en-US" altLang="ko-KR" sz="4000" dirty="0">
                  <a:solidFill>
                    <a:schemeClr val="tx1"/>
                  </a:solidFill>
                </a:rPr>
                <a:t>. </a:t>
              </a:r>
              <a:r>
                <a:rPr lang="ko-KR" altLang="en-US" sz="4000" dirty="0">
                  <a:solidFill>
                    <a:schemeClr val="tx1"/>
                  </a:solidFill>
                </a:rPr>
                <a:t>임상에서 사시각을 측정하는 방법으로는</a:t>
              </a:r>
              <a:r>
                <a:rPr lang="en-US" altLang="ko-KR" sz="4000" dirty="0">
                  <a:solidFill>
                    <a:schemeClr val="tx1"/>
                  </a:solidFill>
                </a:rPr>
                <a:t>,</a:t>
              </a:r>
              <a:br>
                <a:rPr lang="en-US" altLang="ko-KR" sz="4000" dirty="0">
                  <a:solidFill>
                    <a:schemeClr val="tx1"/>
                  </a:solidFill>
                </a:rPr>
              </a:br>
              <a:r>
                <a:rPr lang="ko-KR" altLang="en-US" sz="4000" dirty="0">
                  <a:solidFill>
                    <a:schemeClr val="tx1"/>
                  </a:solidFill>
                </a:rPr>
                <a:t>가림</a:t>
              </a:r>
              <a:r>
                <a:rPr lang="en-US" altLang="ko-KR" sz="4000" dirty="0">
                  <a:solidFill>
                    <a:schemeClr val="tx1"/>
                  </a:solidFill>
                </a:rPr>
                <a:t>/</a:t>
              </a:r>
              <a:r>
                <a:rPr lang="ko-KR" altLang="en-US" sz="4000" dirty="0" err="1">
                  <a:solidFill>
                    <a:schemeClr val="tx1"/>
                  </a:solidFill>
                </a:rPr>
                <a:t>비가림</a:t>
              </a:r>
              <a:r>
                <a:rPr lang="ko-KR" altLang="en-US" sz="4000" dirty="0">
                  <a:solidFill>
                    <a:schemeClr val="tx1"/>
                  </a:solidFill>
                </a:rPr>
                <a:t> 검사방법</a:t>
              </a:r>
              <a:r>
                <a:rPr lang="en-US" altLang="ko-KR" sz="4000" dirty="0">
                  <a:solidFill>
                    <a:schemeClr val="tx1"/>
                  </a:solidFill>
                </a:rPr>
                <a:t>,</a:t>
              </a:r>
              <a:r>
                <a:rPr lang="ko-KR" altLang="en-US" sz="4000" dirty="0">
                  <a:solidFill>
                    <a:schemeClr val="tx1"/>
                  </a:solidFill>
                </a:rPr>
                <a:t>크림스키 검사방법을 주로 사용한다</a:t>
              </a:r>
              <a:r>
                <a:rPr lang="en-US" altLang="ko-KR" sz="4000" dirty="0">
                  <a:solidFill>
                    <a:schemeClr val="tx1"/>
                  </a:solidFill>
                </a:rPr>
                <a:t>. </a:t>
              </a:r>
              <a:r>
                <a:rPr lang="ko-KR" altLang="en-US" sz="4000" dirty="0">
                  <a:solidFill>
                    <a:schemeClr val="tx1"/>
                  </a:solidFill>
                </a:rPr>
                <a:t>본 작품에 사용한 측정 방법은 가림</a:t>
              </a:r>
              <a:r>
                <a:rPr lang="en-US" altLang="ko-KR" sz="4000" dirty="0">
                  <a:solidFill>
                    <a:schemeClr val="tx1"/>
                  </a:solidFill>
                </a:rPr>
                <a:t>/</a:t>
              </a:r>
              <a:r>
                <a:rPr lang="ko-KR" altLang="en-US" sz="4000" dirty="0" err="1">
                  <a:solidFill>
                    <a:schemeClr val="tx1"/>
                  </a:solidFill>
                </a:rPr>
                <a:t>비가림</a:t>
              </a:r>
              <a:r>
                <a:rPr lang="ko-KR" altLang="en-US" sz="4000" dirty="0">
                  <a:solidFill>
                    <a:schemeClr val="tx1"/>
                  </a:solidFill>
                </a:rPr>
                <a:t> 검사방법을 기반으로 제작 하였으며</a:t>
              </a:r>
              <a:r>
                <a:rPr lang="en-US" altLang="ko-KR" sz="4000" dirty="0">
                  <a:solidFill>
                    <a:schemeClr val="tx1"/>
                  </a:solidFill>
                </a:rPr>
                <a:t>, </a:t>
              </a:r>
              <a:r>
                <a:rPr lang="en-US" altLang="ko-KR" sz="4000" dirty="0" err="1">
                  <a:solidFill>
                    <a:schemeClr val="tx1"/>
                  </a:solidFill>
                </a:rPr>
                <a:t>Opencv</a:t>
              </a:r>
              <a:r>
                <a:rPr lang="en-US" altLang="ko-KR" sz="4000" dirty="0">
                  <a:solidFill>
                    <a:schemeClr val="tx1"/>
                  </a:solidFill>
                </a:rPr>
                <a:t> </a:t>
              </a:r>
              <a:r>
                <a:rPr lang="ko-KR" altLang="en-US" sz="4000" dirty="0">
                  <a:solidFill>
                    <a:schemeClr val="tx1"/>
                  </a:solidFill>
                </a:rPr>
                <a:t>라이브러리를 사용하여</a:t>
              </a:r>
              <a:r>
                <a:rPr lang="en-US" altLang="ko-KR" sz="4000" dirty="0">
                  <a:solidFill>
                    <a:schemeClr val="tx1"/>
                  </a:solidFill>
                </a:rPr>
                <a:t>, </a:t>
              </a:r>
              <a:r>
                <a:rPr lang="ko-KR" altLang="en-US" sz="4000" dirty="0" err="1">
                  <a:solidFill>
                    <a:schemeClr val="tx1"/>
                  </a:solidFill>
                </a:rPr>
                <a:t>영상처</a:t>
              </a:r>
              <a:endParaRPr lang="en-US" altLang="ko-KR" sz="4000" dirty="0">
                <a:solidFill>
                  <a:schemeClr val="tx1"/>
                </a:solidFill>
              </a:endParaRPr>
            </a:p>
            <a:p>
              <a:pPr algn="just">
                <a:defRPr lang="ko-KR" altLang="en-US"/>
              </a:pPr>
              <a:r>
                <a:rPr lang="en-US" altLang="ko-KR" sz="4000" dirty="0">
                  <a:solidFill>
                    <a:schemeClr val="tx1"/>
                  </a:solidFill>
                </a:rPr>
                <a:t>    </a:t>
              </a:r>
              <a:r>
                <a:rPr lang="ko-KR" altLang="en-US" sz="4000" dirty="0">
                  <a:solidFill>
                    <a:schemeClr val="tx1"/>
                  </a:solidFill>
                </a:rPr>
                <a:t>리를 진행하였다</a:t>
              </a:r>
              <a:r>
                <a:rPr lang="en-US" altLang="ko-KR" sz="4000" dirty="0">
                  <a:solidFill>
                    <a:schemeClr val="tx1"/>
                  </a:solidFill>
                </a:rPr>
                <a:t>.</a:t>
              </a:r>
            </a:p>
          </p:txBody>
        </p:sp>
        <p:grpSp>
          <p:nvGrpSpPr>
            <p:cNvPr id="38" name="그룹 37"/>
            <p:cNvGrpSpPr/>
            <p:nvPr/>
          </p:nvGrpSpPr>
          <p:grpSpPr>
            <a:xfrm>
              <a:off x="11110120" y="6469323"/>
              <a:ext cx="10079214" cy="1251302"/>
              <a:chOff x="327803" y="3308518"/>
              <a:chExt cx="9714153" cy="1491410"/>
            </a:xfrm>
            <a:grpFill/>
          </p:grpSpPr>
          <p:sp>
            <p:nvSpPr>
              <p:cNvPr id="39" name="직사각형 38"/>
              <p:cNvSpPr/>
              <p:nvPr/>
            </p:nvSpPr>
            <p:spPr>
              <a:xfrm>
                <a:off x="333160" y="3308518"/>
                <a:ext cx="9708796" cy="1232290"/>
              </a:xfrm>
              <a:prstGeom prst="rect">
                <a:avLst/>
              </a:prstGeom>
              <a:grpFill/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 lang="ko-KR" altLang="en-US"/>
                </a:pPr>
                <a:endParaRPr lang="ko-KR" altLang="en-US" sz="3200"/>
              </a:p>
            </p:txBody>
          </p:sp>
          <p:sp>
            <p:nvSpPr>
              <p:cNvPr id="40" name="Shape 40"/>
              <p:cNvSpPr/>
              <p:nvPr/>
            </p:nvSpPr>
            <p:spPr>
              <a:xfrm>
                <a:off x="327803" y="3312126"/>
                <a:ext cx="9708797" cy="1475634"/>
              </a:xfrm>
              <a:prstGeom prst="rect">
                <a:avLst/>
              </a:prstGeom>
              <a:solidFill>
                <a:srgbClr val="96D0A9"/>
              </a:solidFill>
              <a:ln w="12700">
                <a:miter/>
              </a:ln>
            </p:spPr>
            <p:txBody>
              <a:bodyPr wrap="square" lIns="252341" tIns="252341" rIns="252341" bIns="252341">
                <a:spAutoFit/>
              </a:bodyPr>
              <a:lstStyle/>
              <a:p>
                <a:pPr algn="ctr" defTabSz="2422862">
                  <a:defRPr lang="ko-KR" sz="1800">
                    <a:solidFill>
                      <a:srgbClr val="000000"/>
                    </a:solidFill>
                  </a:defRPr>
                </a:pPr>
                <a:r>
                  <a:rPr lang="ko-KR" altLang="en-US" sz="4800" b="1">
                    <a:solidFill>
                      <a:schemeClr val="bg1"/>
                    </a:solidFill>
                    <a:latin typeface="+mj-ea"/>
                    <a:ea typeface="+mj-ea"/>
                    <a:cs typeface="Arial"/>
                    <a:sym typeface="Arial"/>
                  </a:rPr>
                  <a:t>작품 내용 및 설명</a:t>
                </a:r>
                <a:endParaRPr lang="en-US" altLang="ko-KR" sz="4800" b="1">
                  <a:solidFill>
                    <a:schemeClr val="bg1"/>
                  </a:solidFill>
                  <a:latin typeface="+mj-ea"/>
                  <a:ea typeface="+mj-ea"/>
                  <a:cs typeface="Arial"/>
                  <a:sym typeface="Arial"/>
                </a:endParaRPr>
              </a:p>
            </p:txBody>
          </p:sp>
        </p:grpSp>
      </p:grpSp>
      <p:graphicFrame>
        <p:nvGraphicFramePr>
          <p:cNvPr id="17" name="표 16"/>
          <p:cNvGraphicFramePr>
            <a:graphicFrameLocks noGrp="1"/>
          </p:cNvGraphicFramePr>
          <p:nvPr/>
        </p:nvGraphicFramePr>
        <p:xfrm>
          <a:off x="613160" y="30099000"/>
          <a:ext cx="20616231" cy="1108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2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2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2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08308">
                <a:tc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r>
                        <a:rPr lang="ko-KR" altLang="en-US" sz="5000" dirty="0">
                          <a:solidFill>
                            <a:schemeClr val="bg1"/>
                          </a:solidFill>
                        </a:rPr>
                        <a:t>작품번호 </a:t>
                      </a:r>
                      <a:r>
                        <a:rPr lang="ko-KR" altLang="en-US" sz="5000" dirty="0" err="1">
                          <a:solidFill>
                            <a:schemeClr val="bg1"/>
                          </a:solidFill>
                        </a:rPr>
                        <a:t>맑은고딕</a:t>
                      </a:r>
                      <a:r>
                        <a:rPr lang="ko-KR" altLang="en-US" sz="50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5000" dirty="0">
                          <a:solidFill>
                            <a:schemeClr val="bg1"/>
                          </a:solidFill>
                        </a:rPr>
                        <a:t>50</a:t>
                      </a:r>
                      <a:endParaRPr lang="ko-KR" altLang="en-US" sz="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D0A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50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CB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r>
                        <a:rPr lang="ko-KR" altLang="en-US" sz="5000" dirty="0">
                          <a:solidFill>
                            <a:schemeClr val="bg1"/>
                          </a:solidFill>
                        </a:rPr>
                        <a:t>제</a:t>
                      </a:r>
                      <a:r>
                        <a:rPr lang="en-US" altLang="ko-KR" sz="5000" dirty="0">
                          <a:solidFill>
                            <a:schemeClr val="bg1"/>
                          </a:solidFill>
                        </a:rPr>
                        <a:t>28</a:t>
                      </a:r>
                      <a:r>
                        <a:rPr lang="ko-KR" altLang="en-US" sz="5000" dirty="0">
                          <a:solidFill>
                            <a:schemeClr val="bg1"/>
                          </a:solidFill>
                        </a:rPr>
                        <a:t>회 공과대학 </a:t>
                      </a:r>
                      <a:r>
                        <a:rPr lang="ko-KR" altLang="en-US" sz="5000" dirty="0" err="1">
                          <a:solidFill>
                            <a:schemeClr val="bg1"/>
                          </a:solidFill>
                        </a:rPr>
                        <a:t>학술제</a:t>
                      </a:r>
                      <a:endParaRPr lang="ko-KR" altLang="en-US" sz="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D0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4727" y="1515768"/>
            <a:ext cx="3491509" cy="3191994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7127698A-0833-4D20-B826-808F55953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749" y="16182953"/>
            <a:ext cx="8966700" cy="13839910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2E080D18-1711-4209-B12B-717BE0749EAC}"/>
              </a:ext>
            </a:extLst>
          </p:cNvPr>
          <p:cNvSpPr/>
          <p:nvPr/>
        </p:nvSpPr>
        <p:spPr>
          <a:xfrm>
            <a:off x="3983555" y="15254060"/>
            <a:ext cx="31710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4800" b="1" dirty="0">
                <a:solidFill>
                  <a:schemeClr val="tx1"/>
                </a:solidFill>
              </a:rPr>
              <a:t>알고리즘</a:t>
            </a:r>
            <a:endParaRPr lang="ko-KR" altLang="en-US" sz="4400" b="1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ED44AA6B-3448-4F7A-8B80-C7FF5EBE5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2853" y="17161195"/>
            <a:ext cx="6034745" cy="460126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A5AF971-6C2A-4D03-9AD6-2CBBE8DCAE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37598" y="17204244"/>
            <a:ext cx="3566919" cy="4682845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7335D565-BB1D-44B9-9964-681CADFC90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2318" y="21696803"/>
            <a:ext cx="9792613" cy="2305866"/>
          </a:xfrm>
          <a:prstGeom prst="rect">
            <a:avLst/>
          </a:prstGeom>
        </p:spPr>
      </p:pic>
      <p:sp>
        <p:nvSpPr>
          <p:cNvPr id="47" name="Shape 57">
            <a:extLst>
              <a:ext uri="{FF2B5EF4-FFF2-40B4-BE49-F238E27FC236}">
                <a16:creationId xmlns:a16="http://schemas.microsoft.com/office/drawing/2014/main" id="{E60A3D5F-7EC0-41EC-B970-A022AE551F91}"/>
              </a:ext>
            </a:extLst>
          </p:cNvPr>
          <p:cNvSpPr/>
          <p:nvPr/>
        </p:nvSpPr>
        <p:spPr>
          <a:xfrm>
            <a:off x="10921275" y="26183667"/>
            <a:ext cx="10073656" cy="2356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52341" tIns="252341" rIns="252341" bIns="252341">
            <a:spAutoFit/>
          </a:bodyPr>
          <a:lstStyle>
            <a:lvl1pPr defTabSz="3600450"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571500" indent="-571500" algn="just" rtl="0">
              <a:buFont typeface="Wingdings" panose="05000000000000000000" pitchFamily="2" charset="2"/>
              <a:buChar char="l"/>
            </a:pPr>
            <a:r>
              <a:rPr lang="ko-KR" altLang="en-US" sz="4000" dirty="0"/>
              <a:t>기존의 사시 진단 검사 방법들의 보조 수단이나 새로운 대안으로서 폭넓게 사용할 수 있을 것으로 기대됨</a:t>
            </a:r>
            <a:r>
              <a:rPr lang="en-US" altLang="ko-KR" sz="4000" dirty="0"/>
              <a:t>.</a:t>
            </a:r>
            <a:endParaRPr lang="ko-KR" altLang="en-US" sz="4000"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7D7D7"/>
      </a:accent1>
      <a:accent2>
        <a:srgbClr val="0D5667"/>
      </a:accent2>
      <a:accent3>
        <a:srgbClr val="8F8F8F"/>
      </a:accent3>
      <a:accent4>
        <a:srgbClr val="1794B1"/>
      </a:accent4>
      <a:accent5>
        <a:srgbClr val="E6E6E6"/>
      </a:accent5>
      <a:accent6>
        <a:srgbClr val="0C4E5D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BADCF"/>
        </a:solidFill>
        <a:ln w="25400" cap="flat">
          <a:solidFill>
            <a:srgbClr val="D7D7D7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2400" b="0" i="0" u="none" strike="noStrike" cap="none" spc="0" normalizeH="0" baseline="0">
            <a:solidFill>
              <a:srgbClr val="CEF0F8"/>
            </a:solidFill>
            <a:uFillTx/>
            <a:latin typeface="+mn-lt"/>
            <a:ea typeface="+mn-ea"/>
            <a:cs typeface="+mn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spDef>
    <a:lnDef>
      <a:spPr>
        <a:noFill/>
        <a:ln w="25400" cap="flat">
          <a:solidFill>
            <a:srgbClr val="D7D7D7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lnDef>
    <a:txDef>
      <a:spPr>
        <a:noFill/>
        <a:ln w="12700" cap="flat">
          <a:noFill/>
          <a:miter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2400" b="0" i="0" u="none" strike="noStrike" cap="none" spc="0" normalizeH="0" baseline="0">
            <a:solidFill>
              <a:srgbClr val="CEF0F8"/>
            </a:solidFill>
            <a:uFillTx/>
            <a:latin typeface="+mn-lt"/>
            <a:ea typeface="+mn-ea"/>
            <a:cs typeface="+mn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117</Words>
  <Application>Microsoft Office PowerPoint</Application>
  <PresentationFormat>사용자 지정</PresentationFormat>
  <Paragraphs>18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Avenir Roman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oprel-mac</dc:creator>
  <cp:lastModifiedBy>임진규</cp:lastModifiedBy>
  <cp:revision>242</cp:revision>
  <dcterms:modified xsi:type="dcterms:W3CDTF">2019-10-28T07:24:58Z</dcterms:modified>
</cp:coreProperties>
</file>